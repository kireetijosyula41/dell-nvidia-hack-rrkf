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adley" charset="1" panose="00000500000000000000"/>
      <p:regular r:id="rId12"/>
    </p:embeddedFont>
    <p:embeddedFont>
      <p:font typeface="Arsenal Bold" charset="1" panose="00000800000000000000"/>
      <p:regular r:id="rId13"/>
    </p:embeddedFont>
    <p:embeddedFont>
      <p:font typeface="Garet" charset="1" panose="00000000000000000000"/>
      <p:regular r:id="rId14"/>
    </p:embeddedFont>
    <p:embeddedFont>
      <p:font typeface="Garet Bold" charset="1" panose="00000000000000000000"/>
      <p:regular r:id="rId15"/>
    </p:embeddedFont>
    <p:embeddedFont>
      <p:font typeface="Garet Italics" charset="1" panose="00000000000000000000"/>
      <p:regular r:id="rId16"/>
    </p:embeddedFont>
    <p:embeddedFont>
      <p:font typeface="TT Norms Bold" charset="1" panose="02000803030000020004"/>
      <p:regular r:id="rId17"/>
    </p:embeddedFont>
    <p:embeddedFont>
      <p:font typeface="TT Norms" charset="1" panose="02000503030000020003"/>
      <p:regular r:id="rId18"/>
    </p:embeddedFont>
    <p:embeddedFont>
      <p:font typeface="Barlow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VAHTDWImRos.mp4" Type="http://schemas.openxmlformats.org/officeDocument/2006/relationships/video"/><Relationship Id="rId6" Target="../media/VAHTDWImRos.mp4" Type="http://schemas.microsoft.com/office/2007/relationships/media"/><Relationship Id="rId7" Target="../media/image4.jpeg" Type="http://schemas.openxmlformats.org/officeDocument/2006/relationships/image"/><Relationship Id="rId8" Target="../media/VAHTDawJnok.mp4" Type="http://schemas.openxmlformats.org/officeDocument/2006/relationships/video"/><Relationship Id="rId9" Target="../media/VAHTDawJnok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VAHTDas-ICU.mp4" Type="http://schemas.openxmlformats.org/officeDocument/2006/relationships/video"/><Relationship Id="rId6" Target="../media/VAHTDas-ICU.mp4" Type="http://schemas.microsoft.com/office/2007/relationships/media"/><Relationship Id="rId7" Target="../media/image9.jpeg" Type="http://schemas.openxmlformats.org/officeDocument/2006/relationships/image"/><Relationship Id="rId8" Target="../media/VAHTC47SzH0.mp4" Type="http://schemas.openxmlformats.org/officeDocument/2006/relationships/video"/><Relationship Id="rId9" Target="../media/VAHTC47SzH0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47949" y="4154338"/>
            <a:ext cx="4275582" cy="2424141"/>
          </a:xfrm>
          <a:custGeom>
            <a:avLst/>
            <a:gdLst/>
            <a:ahLst/>
            <a:cxnLst/>
            <a:rect r="r" b="b" t="t" l="l"/>
            <a:pathLst>
              <a:path h="2424141" w="4275582">
                <a:moveTo>
                  <a:pt x="0" y="0"/>
                </a:moveTo>
                <a:lnTo>
                  <a:pt x="4275582" y="0"/>
                </a:lnTo>
                <a:lnTo>
                  <a:pt x="4275582" y="2424141"/>
                </a:lnTo>
                <a:lnTo>
                  <a:pt x="0" y="242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11686" r="0" b="11687"/>
          <a:stretch>
            <a:fillRect/>
          </a:stretch>
        </p:blipFill>
        <p:spPr>
          <a:xfrm flipH="false" flipV="false" rot="0">
            <a:off x="8945004" y="4081348"/>
            <a:ext cx="5913996" cy="2549061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38175" y="342900"/>
            <a:ext cx="3810000" cy="25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OrgBrain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4825" y="342900"/>
            <a:ext cx="1905000" cy="25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SLIDE 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8175" y="1200150"/>
            <a:ext cx="762000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7200" spc="-144">
                <a:solidFill>
                  <a:srgbClr val="2A2E30"/>
                </a:solidFill>
                <a:latin typeface="Arsenal Bold"/>
                <a:ea typeface="Arsenal Bold"/>
                <a:cs typeface="Arsenal Bold"/>
                <a:sym typeface="Arsenal Bold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8338" y="2115817"/>
            <a:ext cx="15173325" cy="103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MEETINGS CREATE DECISIONS.</a:t>
            </a:r>
          </a:p>
          <a:p>
            <a:pPr algn="ctr">
              <a:lnSpc>
                <a:spcPts val="3918"/>
              </a:lnSpc>
            </a:pPr>
            <a:r>
              <a:rPr lang="en-US" sz="27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BUT THE TRUTH IS SCATTERED ACROSS THE ENTERPRISE.</a:t>
            </a:r>
          </a:p>
        </p:txBody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15919"/>
          <a:stretch>
            <a:fillRect/>
          </a:stretch>
        </p:blipFill>
        <p:spPr>
          <a:xfrm flipH="false" flipV="false" rot="0">
            <a:off x="1938338" y="4041924"/>
            <a:ext cx="5586641" cy="264223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24000" y="3434077"/>
            <a:ext cx="15240000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Meeting  →  Git  →  Logs  →  Email  →  Support  →  Infrastructure  →  Internal Knowledge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1207" y="7322344"/>
            <a:ext cx="3962400" cy="30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8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DUPLICATED 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1207" y="7510301"/>
            <a:ext cx="3962400" cy="73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308 HOURS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1207" y="8236744"/>
            <a:ext cx="3771900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159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annual duplicated work per worker</a:t>
            </a:r>
          </a:p>
          <a:p>
            <a:pPr algn="l">
              <a:lnSpc>
                <a:spcPts val="2398"/>
              </a:lnSpc>
            </a:pPr>
            <a:r>
              <a:rPr lang="en-US" sz="159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42% dev time on tech debt  ·  </a:t>
            </a:r>
          </a:p>
          <a:p>
            <a:pPr algn="l">
              <a:lnSpc>
                <a:spcPts val="2398"/>
              </a:lnSpc>
            </a:pPr>
            <a:r>
              <a:rPr lang="en-US" sz="159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$85B global cost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82604" y="7322344"/>
            <a:ext cx="3962400" cy="30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8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PROJECT VISIBILITY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82604" y="7510301"/>
            <a:ext cx="3962400" cy="73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70%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82604" y="8205635"/>
            <a:ext cx="3771900" cy="97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664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of projects fail to deliver</a:t>
            </a:r>
          </a:p>
          <a:p>
            <a:pPr algn="l">
              <a:lnSpc>
                <a:spcPts val="2496"/>
              </a:lnSpc>
            </a:pPr>
            <a:r>
              <a:rPr lang="en-US" sz="1664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52% scope creep  </a:t>
            </a:r>
          </a:p>
          <a:p>
            <a:pPr algn="l">
              <a:lnSpc>
                <a:spcPts val="2496"/>
              </a:lnSpc>
            </a:pPr>
            <a:r>
              <a:rPr lang="en-US" sz="1664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·27% budget overrun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45004" y="7349071"/>
            <a:ext cx="3962400" cy="30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8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MEETING WASTE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45004" y="7537028"/>
            <a:ext cx="3962400" cy="73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72%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45004" y="8158696"/>
            <a:ext cx="3771900" cy="109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1887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meeting failure rate</a:t>
            </a:r>
          </a:p>
          <a:p>
            <a:pPr algn="l">
              <a:lnSpc>
                <a:spcPts val="2832"/>
              </a:lnSpc>
            </a:pPr>
            <a:r>
              <a:rPr lang="en-US" sz="1887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61% time on work-about-work  </a:t>
            </a:r>
          </a:p>
          <a:p>
            <a:pPr algn="l">
              <a:lnSpc>
                <a:spcPts val="2832"/>
              </a:lnSpc>
            </a:pPr>
            <a:r>
              <a:rPr lang="en-US" sz="1887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5 hrs/wk lost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96900" y="7295617"/>
            <a:ext cx="3962400" cy="30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8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SILOED KNOWLEDGE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96900" y="7483573"/>
            <a:ext cx="3962400" cy="73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$31.5B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96900" y="8273682"/>
            <a:ext cx="3771900" cy="7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88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Fortune 500 annual loss</a:t>
            </a:r>
          </a:p>
          <a:p>
            <a:pPr algn="l">
              <a:lnSpc>
                <a:spcPts val="2834"/>
              </a:lnSpc>
            </a:pPr>
            <a:r>
              <a:rPr lang="en-US" sz="188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$47M avg loss per large enterprise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29000" y="9611039"/>
            <a:ext cx="1143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9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We capture what happens in meetings......... but capturing is not the same as knowing what is true!!!!!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8175" y="342900"/>
            <a:ext cx="3810000" cy="25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OrgBrain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44825" y="342900"/>
            <a:ext cx="1905000" cy="25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SLIDE 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8175" y="1245232"/>
            <a:ext cx="571500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7200" spc="-144">
                <a:solidFill>
                  <a:srgbClr val="2A2E30"/>
                </a:solidFill>
                <a:latin typeface="Arsenal Bold"/>
                <a:ea typeface="Arsenal Bold"/>
                <a:cs typeface="Arsenal Bold"/>
                <a:sym typeface="Arsenal Bold"/>
              </a:rPr>
              <a:t>THE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8175" y="2038350"/>
            <a:ext cx="9596628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AI-powered truth running silently in every meeting room.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8175" y="2667000"/>
            <a:ext cx="17011650" cy="7143750"/>
            <a:chOff x="0" y="0"/>
            <a:chExt cx="22682200" cy="952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822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22682200">
                  <a:moveTo>
                    <a:pt x="952500" y="0"/>
                  </a:moveTo>
                  <a:lnTo>
                    <a:pt x="21729700" y="0"/>
                  </a:lnTo>
                  <a:cubicBezTo>
                    <a:pt x="22255735" y="0"/>
                    <a:pt x="22682200" y="426466"/>
                    <a:pt x="22682200" y="952500"/>
                  </a:cubicBezTo>
                  <a:lnTo>
                    <a:pt x="22682200" y="8572500"/>
                  </a:lnTo>
                  <a:cubicBezTo>
                    <a:pt x="22682200" y="9098534"/>
                    <a:pt x="22255735" y="9525000"/>
                    <a:pt x="21729700" y="9525000"/>
                  </a:cubicBezTo>
                  <a:lnTo>
                    <a:pt x="952500" y="9525000"/>
                  </a:lnTo>
                  <a:cubicBezTo>
                    <a:pt x="426466" y="9525000"/>
                    <a:pt x="0" y="9098534"/>
                    <a:pt x="0" y="8572500"/>
                  </a:cubicBezTo>
                  <a:lnTo>
                    <a:pt x="0" y="952500"/>
                  </a:lnTo>
                  <a:cubicBezTo>
                    <a:pt x="0" y="426466"/>
                    <a:pt x="426466" y="0"/>
                    <a:pt x="9525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13" r="0" b="-513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108" y="2344788"/>
            <a:ext cx="17037310" cy="4842853"/>
          </a:xfrm>
          <a:custGeom>
            <a:avLst/>
            <a:gdLst/>
            <a:ahLst/>
            <a:cxnLst/>
            <a:rect r="r" b="b" t="t" l="l"/>
            <a:pathLst>
              <a:path h="4842853" w="17037310">
                <a:moveTo>
                  <a:pt x="0" y="0"/>
                </a:moveTo>
                <a:lnTo>
                  <a:pt x="17037310" y="0"/>
                </a:lnTo>
                <a:lnTo>
                  <a:pt x="17037310" y="4842853"/>
                </a:lnTo>
                <a:lnTo>
                  <a:pt x="0" y="4842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5827" t="0" r="5828" b="0"/>
          <a:stretch>
            <a:fillRect/>
          </a:stretch>
        </p:blipFill>
        <p:spPr>
          <a:xfrm flipH="false" flipV="false" rot="0">
            <a:off x="10065306" y="2838745"/>
            <a:ext cx="5777389" cy="3678593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2975084" y="2838745"/>
            <a:ext cx="6539721" cy="3678593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38175" y="342900"/>
            <a:ext cx="3810000" cy="25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OrgBrain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4825" y="342900"/>
            <a:ext cx="1905000" cy="25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45C72"/>
                </a:solidFill>
                <a:latin typeface="Radley"/>
                <a:ea typeface="Radley"/>
                <a:cs typeface="Radley"/>
                <a:sym typeface="Radley"/>
              </a:rPr>
              <a:t>SLIDE 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175" y="1200150"/>
            <a:ext cx="762000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7200" spc="-144">
                <a:solidFill>
                  <a:srgbClr val="2A2E30"/>
                </a:solidFill>
                <a:latin typeface="Arsenal Bold"/>
                <a:ea typeface="Arsenal Bold"/>
                <a:cs typeface="Arsenal Bold"/>
                <a:sym typeface="Arsenal Bold"/>
              </a:rPr>
              <a:t>THE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4000" y="7995285"/>
            <a:ext cx="15240000" cy="36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MEETING CONVERSATION   →   OrgBrain   →   ENTERPRISE GROUND TRUTH   →   ACTIONABLE DECISION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4000" y="8686800"/>
            <a:ext cx="7620000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OrgBrain Live Demonstration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02138" y="6498288"/>
            <a:ext cx="3619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"Google has all meeting transcripts."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55356" y="9213056"/>
            <a:ext cx="2681288" cy="509588"/>
          </a:xfrm>
          <a:custGeom>
            <a:avLst/>
            <a:gdLst/>
            <a:ahLst/>
            <a:cxnLst/>
            <a:rect r="r" b="b" t="t" l="l"/>
            <a:pathLst>
              <a:path h="509588" w="2681288">
                <a:moveTo>
                  <a:pt x="0" y="0"/>
                </a:moveTo>
                <a:lnTo>
                  <a:pt x="2681288" y="0"/>
                </a:lnTo>
                <a:lnTo>
                  <a:pt x="2681288" y="509588"/>
                </a:lnTo>
                <a:lnTo>
                  <a:pt x="0" y="50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0" y="9198769"/>
            <a:ext cx="2667000" cy="516731"/>
            <a:chOff x="0" y="0"/>
            <a:chExt cx="3556000" cy="688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6000" cy="688975"/>
            </a:xfrm>
            <a:custGeom>
              <a:avLst/>
              <a:gdLst/>
              <a:ahLst/>
              <a:cxnLst/>
              <a:rect r="r" b="b" t="t" l="l"/>
              <a:pathLst>
                <a:path h="688975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688975"/>
                  </a:lnTo>
                  <a:lnTo>
                    <a:pt x="0" y="688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567" r="0" b="-5056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5560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Human Claim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239460">
            <a:off x="7414717" y="9458325"/>
            <a:ext cx="410575" cy="0"/>
          </a:xfrm>
          <a:prstGeom prst="line">
            <a:avLst/>
          </a:prstGeom>
          <a:ln cap="rnd" w="19050">
            <a:solidFill>
              <a:srgbClr val="00D4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803356" y="9213056"/>
            <a:ext cx="2681288" cy="509588"/>
          </a:xfrm>
          <a:custGeom>
            <a:avLst/>
            <a:gdLst/>
            <a:ahLst/>
            <a:cxnLst/>
            <a:rect r="r" b="b" t="t" l="l"/>
            <a:pathLst>
              <a:path h="509588" w="2681288">
                <a:moveTo>
                  <a:pt x="0" y="0"/>
                </a:moveTo>
                <a:lnTo>
                  <a:pt x="2681288" y="0"/>
                </a:lnTo>
                <a:lnTo>
                  <a:pt x="2681288" y="509588"/>
                </a:lnTo>
                <a:lnTo>
                  <a:pt x="0" y="50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810500" y="9198769"/>
            <a:ext cx="2667000" cy="516731"/>
            <a:chOff x="0" y="0"/>
            <a:chExt cx="3556000" cy="688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688975"/>
            </a:xfrm>
            <a:custGeom>
              <a:avLst/>
              <a:gdLst/>
              <a:ahLst/>
              <a:cxnLst/>
              <a:rect r="r" b="b" t="t" l="l"/>
              <a:pathLst>
                <a:path h="688975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688975"/>
                  </a:lnTo>
                  <a:lnTo>
                    <a:pt x="0" y="6889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567" r="0" b="-5056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5560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C2CB"/>
                  </a:solidFill>
                  <a:latin typeface="Garet"/>
                  <a:ea typeface="Garet"/>
                  <a:cs typeface="Garet"/>
                  <a:sym typeface="Garet"/>
                </a:rPr>
                <a:t>Asset Discovered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239460">
            <a:off x="10462717" y="9458325"/>
            <a:ext cx="410575" cy="0"/>
          </a:xfrm>
          <a:prstGeom prst="line">
            <a:avLst/>
          </a:prstGeom>
          <a:ln cap="rnd" w="19050">
            <a:solidFill>
              <a:srgbClr val="00D4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851356" y="9213056"/>
            <a:ext cx="2681288" cy="614362"/>
          </a:xfrm>
          <a:custGeom>
            <a:avLst/>
            <a:gdLst/>
            <a:ahLst/>
            <a:cxnLst/>
            <a:rect r="r" b="b" t="t" l="l"/>
            <a:pathLst>
              <a:path h="614362" w="2681288">
                <a:moveTo>
                  <a:pt x="0" y="0"/>
                </a:moveTo>
                <a:lnTo>
                  <a:pt x="2681288" y="0"/>
                </a:lnTo>
                <a:lnTo>
                  <a:pt x="2681288" y="614363"/>
                </a:lnTo>
                <a:lnTo>
                  <a:pt x="0" y="614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858500" y="9198769"/>
            <a:ext cx="2667000" cy="621506"/>
            <a:chOff x="0" y="0"/>
            <a:chExt cx="3556000" cy="8286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56000" cy="828675"/>
            </a:xfrm>
            <a:custGeom>
              <a:avLst/>
              <a:gdLst/>
              <a:ahLst/>
              <a:cxnLst/>
              <a:rect r="r" b="b" t="t" l="l"/>
              <a:pathLst>
                <a:path h="828675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828675"/>
                  </a:lnTo>
                  <a:lnTo>
                    <a:pt x="0" y="828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613" r="0" b="-336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5560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C26E"/>
                  </a:solidFill>
                  <a:latin typeface="Garet"/>
                  <a:ea typeface="Garet"/>
                  <a:cs typeface="Garet"/>
                  <a:sym typeface="Garet"/>
                </a:rPr>
                <a:t>Duplicate Work Avoided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43312" y="2100644"/>
            <a:ext cx="7690818" cy="5601472"/>
            <a:chOff x="0" y="0"/>
            <a:chExt cx="10254424" cy="74686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54361" cy="7468616"/>
            </a:xfrm>
            <a:custGeom>
              <a:avLst/>
              <a:gdLst/>
              <a:ahLst/>
              <a:cxnLst/>
              <a:rect r="r" b="b" t="t" l="l"/>
              <a:pathLst>
                <a:path h="7468616" w="10254361">
                  <a:moveTo>
                    <a:pt x="0" y="0"/>
                  </a:moveTo>
                  <a:lnTo>
                    <a:pt x="10254361" y="0"/>
                  </a:lnTo>
                  <a:lnTo>
                    <a:pt x="10254361" y="7468616"/>
                  </a:lnTo>
                  <a:lnTo>
                    <a:pt x="0" y="7468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65608" y="1072486"/>
            <a:ext cx="5980176" cy="90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0"/>
              </a:lnSpc>
            </a:pPr>
            <a:r>
              <a:rPr lang="en-US" sz="7830" b="true">
                <a:solidFill>
                  <a:srgbClr val="345C72"/>
                </a:solidFill>
                <a:latin typeface="Garet Bold"/>
                <a:ea typeface="Garet Bold"/>
                <a:cs typeface="Garet Bold"/>
                <a:sym typeface="Garet Bold"/>
              </a:rPr>
              <a:t>SCENARIO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00856" y="2016395"/>
            <a:ext cx="4919472" cy="24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21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RE-INVENTING THE WHEEL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3624" y="2898572"/>
            <a:ext cx="3127248" cy="22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21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PM / Developer Claim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78268" y="3405711"/>
            <a:ext cx="6465732" cy="39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6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"We need 4 weeks to build a new queue service."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6928" y="4473111"/>
            <a:ext cx="4462272" cy="23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219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Agent Ground-Truth Discovery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02565" y="4886049"/>
            <a:ext cx="7817129" cy="39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6">
                <a:solidFill>
                  <a:srgbClr val="2A2E30"/>
                </a:solidFill>
                <a:latin typeface="Garet"/>
                <a:ea typeface="Garet"/>
                <a:cs typeface="Garet"/>
                <a:sym typeface="Garet"/>
              </a:rPr>
              <a:t>Core queue package shipped 8 months ago in /packages/.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5608" y="5764311"/>
            <a:ext cx="9454096" cy="33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1746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Fully tested, documented, and production-ready. Zero new development required.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1256" y="6767693"/>
            <a:ext cx="2999232" cy="22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21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Business ROI / Saved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55496" y="7448121"/>
            <a:ext cx="3730752" cy="77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3"/>
              </a:lnSpc>
            </a:pPr>
            <a:r>
              <a:rPr lang="en-US" sz="6873" b="true">
                <a:solidFill>
                  <a:srgbClr val="00C26E"/>
                </a:solidFill>
                <a:latin typeface="Garet Bold"/>
                <a:ea typeface="Garet Bold"/>
                <a:cs typeface="Garet Bold"/>
                <a:sym typeface="Garet Bold"/>
              </a:rPr>
              <a:t>$32,000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00856" y="8308448"/>
            <a:ext cx="4590288" cy="38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3377" b="true">
                <a:solidFill>
                  <a:srgbClr val="00C26E"/>
                </a:solidFill>
                <a:latin typeface="Garet Bold"/>
                <a:ea typeface="Garet Bold"/>
                <a:cs typeface="Garet Bold"/>
                <a:sym typeface="Garet Bold"/>
              </a:rPr>
              <a:t>+ 160 HOURS SAVED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8625" y="1924050"/>
            <a:ext cx="1314450" cy="1295400"/>
            <a:chOff x="0" y="0"/>
            <a:chExt cx="1752600" cy="172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26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7700" y="2143125"/>
            <a:ext cx="876300" cy="857250"/>
            <a:chOff x="0" y="0"/>
            <a:chExt cx="1168400" cy="114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8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33550" y="3209925"/>
            <a:ext cx="8724900" cy="219075"/>
            <a:chOff x="0" y="0"/>
            <a:chExt cx="11633200" cy="292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3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11633200">
                  <a:moveTo>
                    <a:pt x="0" y="0"/>
                  </a:moveTo>
                  <a:lnTo>
                    <a:pt x="11633200" y="0"/>
                  </a:lnTo>
                  <a:lnTo>
                    <a:pt x="116332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8625" y="3429000"/>
            <a:ext cx="1314450" cy="1285875"/>
            <a:chOff x="0" y="0"/>
            <a:chExt cx="1752600" cy="171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26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7700" y="3638550"/>
            <a:ext cx="876300" cy="866775"/>
            <a:chOff x="0" y="0"/>
            <a:chExt cx="1168400" cy="1155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8400" cy="1155700"/>
            </a:xfrm>
            <a:custGeom>
              <a:avLst/>
              <a:gdLst/>
              <a:ahLst/>
              <a:cxnLst/>
              <a:rect r="r" b="b" t="t" l="l"/>
              <a:pathLst>
                <a:path h="11557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9550" y="4924425"/>
            <a:ext cx="10248900" cy="2152650"/>
            <a:chOff x="0" y="0"/>
            <a:chExt cx="13665200" cy="2870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65200" cy="2870200"/>
            </a:xfrm>
            <a:custGeom>
              <a:avLst/>
              <a:gdLst/>
              <a:ahLst/>
              <a:cxnLst/>
              <a:rect r="r" b="b" t="t" l="l"/>
              <a:pathLst>
                <a:path h="2870200" w="13665200">
                  <a:moveTo>
                    <a:pt x="0" y="0"/>
                  </a:moveTo>
                  <a:lnTo>
                    <a:pt x="13665200" y="0"/>
                  </a:lnTo>
                  <a:lnTo>
                    <a:pt x="13665200" y="2870200"/>
                  </a:lnTo>
                  <a:lnTo>
                    <a:pt x="0" y="287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7700" y="5353050"/>
            <a:ext cx="1095375" cy="1295400"/>
            <a:chOff x="0" y="0"/>
            <a:chExt cx="1460500" cy="172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05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460500">
                  <a:moveTo>
                    <a:pt x="0" y="0"/>
                  </a:moveTo>
                  <a:lnTo>
                    <a:pt x="1460500" y="0"/>
                  </a:lnTo>
                  <a:lnTo>
                    <a:pt x="14605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28625" y="7286625"/>
            <a:ext cx="1314450" cy="1504950"/>
            <a:chOff x="0" y="0"/>
            <a:chExt cx="1752600" cy="2006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26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2006600"/>
                  </a:lnTo>
                  <a:lnTo>
                    <a:pt x="0" y="200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7700" y="7496175"/>
            <a:ext cx="876300" cy="1076325"/>
            <a:chOff x="0" y="0"/>
            <a:chExt cx="1168400" cy="1435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8400" cy="1435100"/>
            </a:xfrm>
            <a:custGeom>
              <a:avLst/>
              <a:gdLst/>
              <a:ahLst/>
              <a:cxnLst/>
              <a:rect r="r" b="b" t="t" l="l"/>
              <a:pathLst>
                <a:path h="14351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435100"/>
                  </a:lnTo>
                  <a:lnTo>
                    <a:pt x="0" y="143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28625" y="9001125"/>
            <a:ext cx="11334750" cy="219075"/>
            <a:chOff x="0" y="0"/>
            <a:chExt cx="15113000" cy="292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13000" cy="292100"/>
            </a:xfrm>
            <a:custGeom>
              <a:avLst/>
              <a:gdLst/>
              <a:ahLst/>
              <a:cxnLst/>
              <a:rect r="r" b="b" t="t" l="l"/>
              <a:pathLst>
                <a:path h="292100" w="15113000">
                  <a:moveTo>
                    <a:pt x="0" y="0"/>
                  </a:moveTo>
                  <a:lnTo>
                    <a:pt x="15113000" y="0"/>
                  </a:lnTo>
                  <a:lnTo>
                    <a:pt x="151130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976459" y="1571949"/>
            <a:ext cx="5688816" cy="7143102"/>
            <a:chOff x="0" y="0"/>
            <a:chExt cx="7585088" cy="95241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85075" cy="9524111"/>
            </a:xfrm>
            <a:custGeom>
              <a:avLst/>
              <a:gdLst/>
              <a:ahLst/>
              <a:cxnLst/>
              <a:rect r="r" b="b" t="t" l="l"/>
              <a:pathLst>
                <a:path h="9524111" w="7585075">
                  <a:moveTo>
                    <a:pt x="0" y="0"/>
                  </a:moveTo>
                  <a:lnTo>
                    <a:pt x="7585075" y="0"/>
                  </a:lnTo>
                  <a:lnTo>
                    <a:pt x="7585075" y="9524111"/>
                  </a:lnTo>
                  <a:lnTo>
                    <a:pt x="0" y="9524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975104" y="2250758"/>
            <a:ext cx="303580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b="true" sz="2478" spc="-74">
                <a:solidFill>
                  <a:srgbClr val="2A2E30"/>
                </a:solidFill>
                <a:latin typeface="TT Norms Bold"/>
                <a:ea typeface="TT Norms Bold"/>
                <a:cs typeface="TT Norms Bold"/>
                <a:sym typeface="TT Norms Bold"/>
              </a:rPr>
              <a:t>PM / Developer Claim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66544" y="2781300"/>
            <a:ext cx="453542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spc="-69">
                <a:solidFill>
                  <a:srgbClr val="2A2E30"/>
                </a:solidFill>
                <a:latin typeface="TT Norms"/>
                <a:ea typeface="TT Norms"/>
                <a:cs typeface="TT Norms"/>
                <a:sym typeface="TT Norms"/>
              </a:rPr>
              <a:t>"Release is 100% stable, zero issues!"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75104" y="3670363"/>
            <a:ext cx="42062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1"/>
              </a:lnSpc>
            </a:pPr>
            <a:r>
              <a:rPr lang="en-US" b="true" sz="2442" spc="-72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Agent Ground-Truth Discovery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75104" y="4087749"/>
            <a:ext cx="760780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spc="-69">
                <a:solidFill>
                  <a:srgbClr val="2A2E30"/>
                </a:solidFill>
                <a:latin typeface="TT Norms"/>
                <a:ea typeface="TT Norms"/>
                <a:cs typeface="TT Norms"/>
                <a:sym typeface="TT Norms"/>
              </a:rPr>
              <a:t>BQL shows 14k DB errors; inbox melting with user complaints.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21408" y="5546331"/>
            <a:ext cx="7443216" cy="131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1"/>
              </a:lnSpc>
            </a:pPr>
            <a:r>
              <a:rPr lang="en-US" b="true" sz="5421" spc="-271">
                <a:solidFill>
                  <a:srgbClr val="2A2E30"/>
                </a:solidFill>
                <a:latin typeface="TT Norms Bold"/>
                <a:ea typeface="TT Norms Bold"/>
                <a:cs typeface="TT Norms Bold"/>
                <a:sym typeface="TT Norms Bold"/>
              </a:rPr>
              <a:t>PREVENTS MAJOR PRODUCTION OUTAGE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66544" y="7476554"/>
            <a:ext cx="29260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b="true" sz="2478" spc="-74">
                <a:solidFill>
                  <a:srgbClr val="2A2E30"/>
                </a:solidFill>
                <a:latin typeface="TT Norms Bold"/>
                <a:ea typeface="TT Norms Bold"/>
                <a:cs typeface="TT Norms Bold"/>
                <a:sym typeface="TT Norms Bold"/>
              </a:rPr>
              <a:t>Business ROI / Saved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66544" y="7902893"/>
            <a:ext cx="844905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372" spc="-70">
                <a:solidFill>
                  <a:srgbClr val="2A2E30"/>
                </a:solidFill>
                <a:latin typeface="TT Norms"/>
                <a:ea typeface="TT Norms"/>
                <a:cs typeface="TT Norms"/>
                <a:sym typeface="TT Norms"/>
              </a:rPr>
              <a:t>Real-time ground-truth verification catches critical failures before they escalate — protecting revenue, reputation, and customer trust.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65608" y="1072486"/>
            <a:ext cx="7602236" cy="90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0"/>
              </a:lnSpc>
            </a:pPr>
            <a:r>
              <a:rPr lang="en-US" sz="7830" b="true">
                <a:solidFill>
                  <a:srgbClr val="345C72"/>
                </a:solidFill>
                <a:latin typeface="Garet Bold"/>
                <a:ea typeface="Garet Bold"/>
                <a:cs typeface="Garet Bold"/>
                <a:sym typeface="Garet Bold"/>
              </a:rPr>
              <a:t>SCENARIO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8625" y="209550"/>
            <a:ext cx="8505825" cy="9220200"/>
            <a:chOff x="0" y="0"/>
            <a:chExt cx="11341100" cy="122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41100" cy="12293600"/>
            </a:xfrm>
            <a:custGeom>
              <a:avLst/>
              <a:gdLst/>
              <a:ahLst/>
              <a:cxnLst/>
              <a:rect r="r" b="b" t="t" l="l"/>
              <a:pathLst>
                <a:path h="12293600" w="11341100">
                  <a:moveTo>
                    <a:pt x="0" y="0"/>
                  </a:moveTo>
                  <a:lnTo>
                    <a:pt x="11341100" y="0"/>
                  </a:lnTo>
                  <a:lnTo>
                    <a:pt x="11341100" y="12293600"/>
                  </a:lnTo>
                  <a:lnTo>
                    <a:pt x="0" y="1229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209550"/>
            <a:ext cx="8715375" cy="9220200"/>
            <a:chOff x="0" y="0"/>
            <a:chExt cx="11620500" cy="1229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20500" cy="12293600"/>
            </a:xfrm>
            <a:custGeom>
              <a:avLst/>
              <a:gdLst/>
              <a:ahLst/>
              <a:cxnLst/>
              <a:rect r="r" b="b" t="t" l="l"/>
              <a:pathLst>
                <a:path h="12293600" w="11620500">
                  <a:moveTo>
                    <a:pt x="0" y="0"/>
                  </a:moveTo>
                  <a:lnTo>
                    <a:pt x="11620500" y="0"/>
                  </a:lnTo>
                  <a:lnTo>
                    <a:pt x="11620500" y="12293600"/>
                  </a:lnTo>
                  <a:lnTo>
                    <a:pt x="0" y="1229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15568" y="1254976"/>
            <a:ext cx="4389120" cy="74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8"/>
              </a:lnSpc>
            </a:pPr>
            <a:r>
              <a:rPr lang="en-US" sz="6378" b="true">
                <a:solidFill>
                  <a:srgbClr val="345C72"/>
                </a:solidFill>
                <a:latin typeface="Barlow Bold"/>
                <a:ea typeface="Barlow Bold"/>
                <a:cs typeface="Barlow Bold"/>
                <a:sym typeface="Barlow Bold"/>
              </a:rPr>
              <a:t>SCENARIO 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5850" y="1924050"/>
            <a:ext cx="657225" cy="438150"/>
            <a:chOff x="0" y="0"/>
            <a:chExt cx="876300" cy="584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6300" cy="584200"/>
            </a:xfrm>
            <a:custGeom>
              <a:avLst/>
              <a:gdLst/>
              <a:ahLst/>
              <a:cxnLst/>
              <a:rect r="r" b="b" t="t" l="l"/>
              <a:pathLst>
                <a:path h="5842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5568" y="2464479"/>
            <a:ext cx="6949440" cy="176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2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Cloud GPU Waste</a:t>
            </a:r>
          </a:p>
          <a:p>
            <a:pPr algn="l">
              <a:lnSpc>
                <a:spcPts val="3420"/>
              </a:lnSpc>
            </a:pPr>
            <a:r>
              <a:rPr lang="en-US" sz="2442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CLAIM: "Need $15k/mo AWS GPUs for AI inference." </a:t>
            </a:r>
          </a:p>
          <a:p>
            <a:pPr algn="l">
              <a:lnSpc>
                <a:spcPts val="3420"/>
              </a:lnSpc>
            </a:pPr>
            <a:r>
              <a:rPr lang="en-US" sz="2442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DISCOVERY: Script was running nested IF/ELSE loops runs locally on Spark.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5850" y="4714875"/>
            <a:ext cx="7191375" cy="219075"/>
            <a:chOff x="0" y="0"/>
            <a:chExt cx="95885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88500" cy="292100"/>
            </a:xfrm>
            <a:custGeom>
              <a:avLst/>
              <a:gdLst/>
              <a:ahLst/>
              <a:cxnLst/>
              <a:rect r="r" b="b" t="t" l="l"/>
              <a:pathLst>
                <a:path h="292100" w="9588500">
                  <a:moveTo>
                    <a:pt x="0" y="0"/>
                  </a:moveTo>
                  <a:lnTo>
                    <a:pt x="9588500" y="0"/>
                  </a:lnTo>
                  <a:lnTo>
                    <a:pt x="95885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5850" y="5572125"/>
            <a:ext cx="2181225" cy="1714500"/>
            <a:chOff x="0" y="0"/>
            <a:chExt cx="29083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083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08300">
                  <a:moveTo>
                    <a:pt x="0" y="0"/>
                  </a:moveTo>
                  <a:lnTo>
                    <a:pt x="2908300" y="0"/>
                  </a:lnTo>
                  <a:lnTo>
                    <a:pt x="29083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730752" y="5718200"/>
            <a:ext cx="4005072" cy="91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345C72"/>
                </a:solidFill>
                <a:latin typeface="Barlow Bold"/>
                <a:ea typeface="Barlow Bold"/>
                <a:cs typeface="Barlow Bold"/>
                <a:sym typeface="Barlow Bold"/>
              </a:rPr>
              <a:t>$180,000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95344" y="6891728"/>
            <a:ext cx="3877056" cy="52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499" b="true">
                <a:solidFill>
                  <a:srgbClr val="345C72"/>
                </a:solidFill>
                <a:latin typeface="Barlow Bold"/>
                <a:ea typeface="Barlow Bold"/>
                <a:cs typeface="Barlow Bold"/>
                <a:sym typeface="Barlow Bold"/>
              </a:rPr>
              <a:t>/ YEAR SAVED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5850" y="8353425"/>
            <a:ext cx="7191375" cy="219075"/>
            <a:chOff x="0" y="0"/>
            <a:chExt cx="9588500" cy="292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88500" cy="292100"/>
            </a:xfrm>
            <a:custGeom>
              <a:avLst/>
              <a:gdLst/>
              <a:ahLst/>
              <a:cxnLst/>
              <a:rect r="r" b="b" t="t" l="l"/>
              <a:pathLst>
                <a:path h="292100" w="9588500">
                  <a:moveTo>
                    <a:pt x="0" y="0"/>
                  </a:moveTo>
                  <a:lnTo>
                    <a:pt x="9588500" y="0"/>
                  </a:lnTo>
                  <a:lnTo>
                    <a:pt x="95885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15568" y="8565261"/>
            <a:ext cx="3986784" cy="47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45C72"/>
                </a:solidFill>
                <a:latin typeface="Barlow Bold"/>
                <a:ea typeface="Barlow Bold"/>
                <a:cs typeface="Barlow Bold"/>
                <a:sym typeface="Barlow Bold"/>
              </a:rPr>
              <a:t>ROI: $180,000 / YEAR SAVED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8944" y="1260634"/>
            <a:ext cx="4389120" cy="73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6306" b="true">
                <a:solidFill>
                  <a:srgbClr val="345C72"/>
                </a:solidFill>
                <a:latin typeface="Barlow Bold"/>
                <a:ea typeface="Barlow Bold"/>
                <a:cs typeface="Barlow Bold"/>
                <a:sym typeface="Barlow Bold"/>
              </a:rPr>
              <a:t>SCENARIO 4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91700" y="1924050"/>
            <a:ext cx="666750" cy="438150"/>
            <a:chOff x="0" y="0"/>
            <a:chExt cx="889000" cy="584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9000" cy="584200"/>
            </a:xfrm>
            <a:custGeom>
              <a:avLst/>
              <a:gdLst/>
              <a:ahLst/>
              <a:cxnLst/>
              <a:rect r="r" b="b" t="t" l="l"/>
              <a:pathLst>
                <a:path h="584200" w="889000">
                  <a:moveTo>
                    <a:pt x="0" y="0"/>
                  </a:moveTo>
                  <a:lnTo>
                    <a:pt x="889000" y="0"/>
                  </a:lnTo>
                  <a:lnTo>
                    <a:pt x="889000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838944" y="2488044"/>
            <a:ext cx="6437376" cy="222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514" b="tru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6-Month Rewrite</a:t>
            </a:r>
          </a:p>
          <a:p>
            <a:pPr algn="l">
              <a:lnSpc>
                <a:spcPts val="3518"/>
              </a:lnSpc>
            </a:pPr>
            <a:r>
              <a:rPr lang="en-US" sz="2514" b="tru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CLAIM: "Codebase is unmaintainable, freeze features 6 months." </a:t>
            </a:r>
          </a:p>
          <a:p>
            <a:pPr algn="l">
              <a:lnSpc>
                <a:spcPts val="3518"/>
              </a:lnSpc>
            </a:pPr>
            <a:r>
              <a:rPr lang="en-US" sz="2514" b="tru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DISCOVERY: 94% of bugs were in one 600-line legacy script.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791700" y="4714875"/>
            <a:ext cx="7410450" cy="219075"/>
            <a:chOff x="0" y="0"/>
            <a:chExt cx="9880600" cy="292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80600" cy="292100"/>
            </a:xfrm>
            <a:custGeom>
              <a:avLst/>
              <a:gdLst/>
              <a:ahLst/>
              <a:cxnLst/>
              <a:rect r="r" b="b" t="t" l="l"/>
              <a:pathLst>
                <a:path h="292100" w="9880600">
                  <a:moveTo>
                    <a:pt x="0" y="0"/>
                  </a:moveTo>
                  <a:lnTo>
                    <a:pt x="9880600" y="0"/>
                  </a:lnTo>
                  <a:lnTo>
                    <a:pt x="98806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791700" y="5353050"/>
            <a:ext cx="2400300" cy="2362200"/>
            <a:chOff x="0" y="0"/>
            <a:chExt cx="3200400" cy="314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00400" cy="3149600"/>
            </a:xfrm>
            <a:custGeom>
              <a:avLst/>
              <a:gdLst/>
              <a:ahLst/>
              <a:cxnLst/>
              <a:rect r="r" b="b" t="t" l="l"/>
              <a:pathLst>
                <a:path h="31496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149600"/>
                  </a:lnTo>
                  <a:lnTo>
                    <a:pt x="0" y="314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624560" y="5654850"/>
            <a:ext cx="2194560" cy="79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sz="7016" b="true">
                <a:solidFill>
                  <a:srgbClr val="345C72"/>
                </a:solidFill>
                <a:latin typeface="Barlow Bold"/>
                <a:ea typeface="Barlow Bold"/>
                <a:cs typeface="Barlow Bold"/>
                <a:sym typeface="Barlow Bold"/>
              </a:rPr>
              <a:t>94%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69696" y="6517272"/>
            <a:ext cx="2523744" cy="56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</a:pPr>
            <a:r>
              <a:rPr lang="en-US" sz="4853" b="true">
                <a:solidFill>
                  <a:srgbClr val="345C72"/>
                </a:solidFill>
                <a:latin typeface="Barlow Bold"/>
                <a:ea typeface="Barlow Bold"/>
                <a:cs typeface="Barlow Bold"/>
                <a:sym typeface="Barlow Bold"/>
              </a:rPr>
              <a:t>OF BUGS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69696" y="7186803"/>
            <a:ext cx="296265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975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 ONE 600-LINE LEGACY SCRIPT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91700" y="8353425"/>
            <a:ext cx="7410450" cy="219075"/>
            <a:chOff x="0" y="0"/>
            <a:chExt cx="9880600" cy="292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80600" cy="292100"/>
            </a:xfrm>
            <a:custGeom>
              <a:avLst/>
              <a:gdLst/>
              <a:ahLst/>
              <a:cxnLst/>
              <a:rect r="r" b="b" t="t" l="l"/>
              <a:pathLst>
                <a:path h="292100" w="9880600">
                  <a:moveTo>
                    <a:pt x="0" y="0"/>
                  </a:moveTo>
                  <a:lnTo>
                    <a:pt x="9880600" y="0"/>
                  </a:lnTo>
                  <a:lnTo>
                    <a:pt x="98806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838944" y="8569566"/>
            <a:ext cx="5413248" cy="46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514" b="true">
                <a:solidFill>
                  <a:srgbClr val="345C72"/>
                </a:solidFill>
                <a:latin typeface="Barlow Bold"/>
                <a:ea typeface="Barlow Bold"/>
                <a:cs typeface="Barlow Bold"/>
                <a:sym typeface="Barlow Bold"/>
              </a:rPr>
              <a:t>ROI: 6 MONTHS LOST VELOCITY SAVED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843248" y="9561900"/>
            <a:ext cx="640080" cy="42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1"/>
              </a:lnSpc>
            </a:pPr>
            <a:r>
              <a:rPr lang="en-US" sz="2229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DAHTC5DpAUk</dc:identifier>
  <dcterms:modified xsi:type="dcterms:W3CDTF">2011-08-01T06:04:30Z</dcterms:modified>
  <cp:revision>1</cp:revision>
  <dc:title>Template-Based Presentation</dc:title>
</cp:coreProperties>
</file>